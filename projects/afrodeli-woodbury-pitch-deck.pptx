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74" cy="320040"/>
          </a:xfrm>
          <a:prstGeom prst="roundRect">
            <a:avLst>
              <a:gd name="adj" fmla="val 91965517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FRANCHISE PITCH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 Deli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Woodbury, MN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African-Mediterranean Fusion — East Metro Expansion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fast-casual franchise opportunity in an affluent, fast-growing suburb with zero direct competition. Projections calibrated against actual operational data from 3 existing locations.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27432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FRANCHISE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 Deli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OWNER-OPERATOR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5394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Koo 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INVESTMENT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5394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5394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365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 Deli is a fast-casual fusion restaurant weaving African, Mediterranean, and American cuisine in a fast, fun, family-friendly environment.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dishes made fresh, prepared Halal, rooted in a social enterprise mission. 3 locations operating 12+ years in the Twin Cities.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Locations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$1.37M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Annual Net Sales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Catering Share (actual)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5029200" cy="3474720"/>
          </a:xfrm>
          <a:prstGeom prst="roundRect">
            <a:avLst>
              <a:gd name="adj" fmla="val 4211"/>
            </a:avLst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Highlights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Chicken Fantastic — Somali rice, creole sauce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148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Sambusas (beef, chicken, veggie) — fan favorite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Lamb &amp; Chicken Gyros — spiced rotisserie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971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Spiced Bowls — proteins over Somali rice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383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Falafel / Hummus — strong vegan options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6634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846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Actual Avg Ticket: $15.89 | Turn Time: 17.8 min | 17.1% from 3rd-party delivery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Twin Cities suburbs evaluated. One clear winner.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Factor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📍 Woodbury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Minnetonka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Edina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Population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~75,000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~55,000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~54,000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 (2020–25)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+12%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Median Income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$117,000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$105,000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$120,000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Daytime Surge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(medical+retail)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 Competition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(gap)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Lease ($/sq ft)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$20–$25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$22–$28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$28–$35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Permitting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4–6 weeks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6–10 weeks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8–12 weeks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754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846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Woodbury — Primary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4754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846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Minnetonka — Year 3–5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754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4846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0467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Edina — Future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Woodbury Demographics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Affluent, fast-growing — the perfect launchpad.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 since 2020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$117K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Income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 above metro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w/ Kids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dinner target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46304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30–40%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354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Daytime Surge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Medical+retail+office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5303520" cy="256032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Segments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Primary (50%) — Families with kids 6–17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Catering (25%) — Corporate, medical, schools (25.7% actual)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Professionals (15%) — Affluent couples, global seekers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Daytime + Delivery (10%) — Lunch workforce + 17.1% delivery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383280"/>
            <a:ext cx="5029200" cy="256032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Site Criteria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1,500–1,800 sq ft endcap/inline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Power center near grocery anchor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25,000+ VPD, street-facing signage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Lease: $18–$25/sq ft NNN (~$4,200/mo)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Woodbury has a clear gap — Afro Deli fills it.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2860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Competitor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Afro Deli Advantage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Naf Naf Grill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Mediterranean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Tamarack Village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African spicing, sambusas, halal, brand story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Chipotle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Mexican Grill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Woodbury Lakes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Unique flavor — Somali rice, spice blends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Panera Bread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Bakery-Café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Valley Creek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Dinner-centric, bolder flavors, community mission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Noodles &amp; Co.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Global-Inspired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Woodbury Lakes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Authentic cuisine, halal commitment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Crisp &amp; Green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Health Fast-Casual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Woodbury Lakes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Warm bowls + gyros = comfort + nutrition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1148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Key Insight: No competitor offers African-Med fusion, halal-first, or cultural storytelling. And none does 25.7% of revenue from catering.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2468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model (3 locations, 12+ years)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9476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25.7% catering revenue — proven institutional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2951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cuisine = zero direct competition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642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All-halal = growing demand driver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17.1% 3rd-party delivery (DoorDash, Uber, Grubhub)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community/social enterprise mission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09728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097280"/>
            <a:ext cx="54864" cy="24688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suburban expansion — new territory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0" y="19476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Woodbury brand awareness vs nationals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22951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Royalty + marketing (8%) compresses margins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2642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drive-thru (vs Panera, Chipotle)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Owner-operator learning curve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840480"/>
            <a:ext cx="54864" cy="2468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Woodbury 12% growth = rising dining demand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4690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African-Med fusion competitor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0383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Catering proven at 25.7% — larger Woodbury market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3858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Dinner only 16.1% → huge growth runway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57332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halal demand across Metro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6080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location or Minnetonka Yr 3–5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84048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840480"/>
            <a:ext cx="54864" cy="24688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6656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downturn reduces discretionary dining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4690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Halal protein cost inflation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50383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market wage pressure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53858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Cava entry into Woodbury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57332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Lease escalation at Yr 5–10 renewal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Project Cost: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$600,000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Category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Amount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Franchise Fee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$35,000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Leasehold Improvements (1,600 sq ft)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$250,000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FF&amp;E (Kitchen, POS, Seating)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$135,000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Permits, Licenses &amp; Legal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Technology &amp; POS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Initial Inventory &amp; Smallwares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Pre-Opening Marketing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$25,000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Professional Fees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Insurance (Yr 1)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Working Capital Reserve (6 mo)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$87,000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Contingency (5%)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$30,000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$600,000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097280"/>
            <a:ext cx="5029200" cy="4754880"/>
          </a:xfrm>
          <a:prstGeom prst="roundRect">
            <a:avLst>
              <a:gd name="adj" fmla="val 26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Stack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66560" y="17373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7665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Equity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 of total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961120" y="17373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$400K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96112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SBA 7(a) Loan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611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yr @ 9% | $5,075/mo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Ticket: $15.00 (actual: $15.89 → conservative)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4160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COGS: 29% of revenue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Labor: 30% inclusive of $60K owner salary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4800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Catering (Yr 1): 15–20% (actual: 25.7%)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5120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Royalty: 6% standard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5440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Rent: ~$4,200/mo ($24/sq ft NNN)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P&amp;L Projection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Ramp from 60 to 200 daily covers. Calibrated against actual location data.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M7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M10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M11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Covers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$23,400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$33,150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$46,800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$54,600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$60,450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$66,300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$68,250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$70,200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$72,150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$74,100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$76,050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$78,000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EBITDA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($978)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$2,240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$6,244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$7,768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$9,399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$11,529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$11,723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$11,966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$13,210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$14,053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$14,197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$14,640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 Cash Flow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($6,053)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($2,835)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$1,169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$2,693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$4,324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$6,454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$6,648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$6,891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$8,135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$8,978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$9,122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$9,565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Cumulative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($6,053)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($8,888)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($7,719)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($5,026)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($702)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$5,752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$12,400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$19,291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$27,426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$36,404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$45,526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$55,091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$673K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097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$86K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097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Cash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Salary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5603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Positive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85–90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Break-Even Covers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6364"/>
            </a:avLst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vs Actual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Ticket $15.00 (actual: $15.89 — conservative)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Catering 15–20% Yr 1 (actual: 25.7% — building toward parity)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5120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Dinner ~25% (actual: 16.1% — growth thesis)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440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3rd-party delivery: modeled within covers (actual: 17.1%)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POS data from 3 existing Afro Deli locations (June 2025 – June 2026)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Actual (3-Loc Avg)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Woodbury Projection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Annual Revenue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~$456K/location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~$673K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+47% — higher income, no competition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Average Ticket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$15.89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$15.00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Conservative — Woodbury can support $16+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Catering 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25.7%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15–20% (Yr 1)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Conservative ramp; targeting 25% by Yr 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3rd-Party Delivery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17.1%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Incl. in covers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DoorDash 12.7%, Uber 3.1%, Grubhub 1.3%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Lunch / Dinner Split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55.7% / 16.1%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~50% / ~25%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thesis: dinner is underpenetrated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20040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10B981">
              <a:alpha val="6000"/>
            </a:srgbClr>
          </a:solidFill>
          <a:ln w="1905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3474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Verdict: The real data validates the model. The biggest Woodbury-specific upsides are catering (25.7% proven — Woodbury institutional market is larger) and dinner (only 16.1% today — significant growth runway).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Afro Deli POS system (Toast) — combined data from Minneapolis Marquette, Downtown St. Paul, and Riverside/West Bank locations.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holds up well even with a 10% revenue headwind.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Case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–10% Scenario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1 Revenue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$673,350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$606,015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1 EBITDA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$85,917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$40,110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1 Net Cash Flow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$55,091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($20,790)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Break-Even Month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Yr-End Cumulative Cash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$55,091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($20,790)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463040"/>
            <a:ext cx="4846320" cy="2286000"/>
          </a:xfrm>
          <a:prstGeom prst="roundRect">
            <a:avLst>
              <a:gd name="adj" fmla="val 5600"/>
            </a:avLst>
          </a:prstGeom>
          <a:solidFill>
            <a:srgbClr val="10B981">
              <a:alpha val="7000"/>
            </a:srgbClr>
          </a:solidFill>
          <a:ln w="1905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Capital Cushion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0" y="2011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$87K reserve covers the –10% scenario gap for 4+ months before additional capital is needed.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would need to underperform by 20%+ before a capital infusion is required.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5029200" cy="2011680"/>
          </a:xfrm>
          <a:prstGeom prst="roundRect">
            <a:avLst>
              <a:gd name="adj" fmla="val 6364"/>
            </a:avLst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Analysis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Monthly Costs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~$22,500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9728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Cost Ratio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40–42% of revenue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Revenue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0" y="5303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~$32.5K–$34K/mo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9728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Daily Covers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0" y="5623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85–90/day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4114800"/>
            <a:ext cx="5303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 Levers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labor % to ~27% (owner takes lower draw)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Tighten COGS through portion control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 non-essential maintenance &amp; marketing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 catering outreach (higher margin)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39496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(Week 1–4)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 Request FDD from Afro Deli franchisor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Engage franchise attorney for FDD review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Validate Item 19 financial performance reps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🏗️ Site scouting — Tamarack, Woodbury Lakes, Valley Creek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539496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 (Month 1–3)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Begin SBA 7(a) loan application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 Schedule Discovery Day with franchisor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Finalize entity structure (LLC)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🔑 Negotiate lease letter of intent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39496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Contacts Needed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Franchisor: Afro Deli corporate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Lender: SBA-preferred bank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Attorney: Franchise + lease specialist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Broker: Woodbury commercial 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897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Contractor: Restaurant build-out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3840480"/>
            <a:ext cx="539496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0–2: FDD, lease LOI, loan approval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656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2–5: Build-out, equipment, training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5–6: Soft opening → grand opening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17373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This.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proven franchise concept validated by real operational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growing, affluent market with no direct competition.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Investment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Positive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$86K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EBITDA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5212080"/>
            <a:ext cx="8534095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534924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Projections calibrated against actual POS data from 3 existing Afro Deli locations (June 2025–June 2026):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net sales $1.37M | Avg ticket $15.89 | 86,170 annual guests | Catering 25.7% | 17.1% delivery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Woodbury projections are estimates pending FDD review, site selection, and lease negotiation.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2026-06-17T16:21:02Z</dcterms:created>
  <dcterms:modified xsi:type="dcterms:W3CDTF">2026-06-17T16:21:02Z</dcterms:modified>
</cp:coreProperties>
</file>